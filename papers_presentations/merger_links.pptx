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1" r:id="rId3"/>
    <p:sldId id="283" r:id="rId4"/>
    <p:sldId id="292" r:id="rId5"/>
    <p:sldId id="273" r:id="rId6"/>
    <p:sldId id="274" r:id="rId7"/>
    <p:sldId id="286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6" r:id="rId17"/>
    <p:sldId id="301" r:id="rId18"/>
    <p:sldId id="302" r:id="rId19"/>
    <p:sldId id="303" r:id="rId20"/>
    <p:sldId id="304" r:id="rId21"/>
    <p:sldId id="307" r:id="rId22"/>
    <p:sldId id="305" r:id="rId23"/>
    <p:sldId id="27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5"/>
    <p:restoredTop sz="94643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3" d="100"/>
          <a:sy n="123" d="100"/>
        </p:scale>
        <p:origin x="-2816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F3E31-9781-B24F-87A9-F98653FBF465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F4F8C-1785-AC43-97F9-C9301BD933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47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F4F8C-1785-AC43-97F9-C9301BD933C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6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F4F8C-1785-AC43-97F9-C9301BD933C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668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F4F8C-1785-AC43-97F9-C9301BD933C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712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cademicBdlg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459" y="207095"/>
            <a:ext cx="11663082" cy="645366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264459" y="2705301"/>
            <a:ext cx="118872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11808669" y="2705301"/>
            <a:ext cx="118872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rmAutofit/>
          </a:bodyPr>
          <a:lstStyle>
            <a:lvl1pPr>
              <a:defRPr sz="42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235390"/>
            <a:ext cx="8534400" cy="1189892"/>
          </a:xfrm>
        </p:spPr>
        <p:txBody>
          <a:bodyPr>
            <a:normAutofit/>
          </a:bodyPr>
          <a:lstStyle>
            <a:lvl1pPr marL="0" indent="0" algn="ctr">
              <a:buNone/>
              <a:defRPr sz="2800" i="1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47776" y="819398"/>
            <a:ext cx="896448" cy="73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6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101601"/>
            <a:ext cx="7687733" cy="1143000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8844"/>
            <a:ext cx="10972799" cy="4647321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27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69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54767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94022"/>
            <a:ext cx="5384800" cy="38321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94022"/>
            <a:ext cx="5384800" cy="383214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5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66704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307098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46861"/>
            <a:ext cx="5386917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2307098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946861"/>
            <a:ext cx="5389033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SCwall.psd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938" y="208038"/>
            <a:ext cx="11672125" cy="6441925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060470" y="2093434"/>
            <a:ext cx="10071060" cy="2671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1060470" y="2742924"/>
            <a:ext cx="128016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11003514" y="2758222"/>
            <a:ext cx="128016" cy="13716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616" y="2872522"/>
            <a:ext cx="9192768" cy="1143000"/>
          </a:xfrm>
        </p:spPr>
        <p:txBody>
          <a:bodyPr>
            <a:normAutofit/>
          </a:bodyPr>
          <a:lstStyle>
            <a:lvl1pPr>
              <a:defRPr sz="3400" b="1">
                <a:solidFill>
                  <a:srgbClr val="50000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6" name="Picture 15" descr="TAM-LogoBox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4468" y="1424596"/>
            <a:ext cx="1303064" cy="130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2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1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1" y="1171075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71075"/>
            <a:ext cx="6815667" cy="495509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1" y="2406317"/>
            <a:ext cx="4011084" cy="37198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06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06905"/>
            <a:ext cx="7315200" cy="36206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3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5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979834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22834"/>
            <a:ext cx="10972800" cy="4003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4CE51-D15A-BB47-9138-751D578D2580}" type="datetimeFigureOut">
              <a:rPr lang="en-US" smtClean="0"/>
              <a:t>11/17/2020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FB8FF-E84C-EC49-87A9-5C830135652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Shape 461"/>
          <p:cNvSpPr/>
          <p:nvPr userDrawn="1"/>
        </p:nvSpPr>
        <p:spPr>
          <a:xfrm>
            <a:off x="203205" y="6575107"/>
            <a:ext cx="9400417" cy="0"/>
          </a:xfrm>
          <a:prstGeom prst="line">
            <a:avLst/>
          </a:prstGeom>
          <a:ln w="12700">
            <a:solidFill>
              <a:srgbClr val="E4002B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 sz="3200" dirty="0">
              <a:ln w="3175" cmpd="sng">
                <a:solidFill>
                  <a:srgbClr val="000000"/>
                </a:solidFill>
              </a:ln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823" y="231831"/>
            <a:ext cx="11424356" cy="926298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383823" y="383114"/>
            <a:ext cx="120848" cy="58240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66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3892" y="2023582"/>
            <a:ext cx="10363200" cy="1470025"/>
          </a:xfrm>
        </p:spPr>
        <p:txBody>
          <a:bodyPr>
            <a:normAutofit/>
          </a:bodyPr>
          <a:lstStyle/>
          <a:p>
            <a:r>
              <a:rPr lang="en-US" dirty="0"/>
              <a:t>The Importance of Industry Links in Merger Waves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977210" y="3594646"/>
            <a:ext cx="4026569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718" y="794673"/>
            <a:ext cx="989551" cy="989551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1788293" y="4478832"/>
            <a:ext cx="8534400" cy="1974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i="1" kern="120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Presentation by Joseph P. Janko</a:t>
            </a:r>
          </a:p>
          <a:p>
            <a:endParaRPr lang="en-US" dirty="0"/>
          </a:p>
          <a:p>
            <a:r>
              <a:rPr lang="en-US" sz="2000" dirty="0"/>
              <a:t>Mays Business School, Texas A&amp;M University</a:t>
            </a:r>
          </a:p>
          <a:p>
            <a:r>
              <a:rPr lang="en-US" sz="2000" dirty="0"/>
              <a:t>Presented on November 17,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958" y="3731462"/>
            <a:ext cx="6093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Kenneth R. Ahern and Jarrad Harford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The Journal of Finance, Vol LXIX, April 2014</a:t>
            </a:r>
          </a:p>
        </p:txBody>
      </p:sp>
    </p:spTree>
    <p:extLst>
      <p:ext uri="{BB962C8B-B14F-4D97-AF65-F5344CB8AC3E}">
        <p14:creationId xmlns:p14="http://schemas.microsoft.com/office/powerpoint/2010/main" val="135469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07600"/>
            <a:ext cx="10972799" cy="5368408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How do real economic transactions explain the formation and propagation of merger waves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Authors use graph theory techniques to form a network of industry pairs connected by trade flows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The Model has 3 implications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b="1" dirty="0"/>
              <a:t>Stronger product network </a:t>
            </a:r>
            <a:r>
              <a:rPr lang="en-US" sz="2000" dirty="0"/>
              <a:t>connections lead to </a:t>
            </a:r>
            <a:r>
              <a:rPr lang="en-US" sz="2000" b="1" dirty="0"/>
              <a:t>greater frequency</a:t>
            </a:r>
            <a:r>
              <a:rPr lang="en-US" sz="2000" dirty="0"/>
              <a:t> of cross industry mergers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Mergers propagate in </a:t>
            </a:r>
            <a:r>
              <a:rPr lang="en-US" sz="2000" b="1" dirty="0"/>
              <a:t>waves</a:t>
            </a:r>
            <a:r>
              <a:rPr lang="en-US" sz="2000" dirty="0"/>
              <a:t> through both </a:t>
            </a:r>
            <a:r>
              <a:rPr lang="en-US" sz="2000" b="1" dirty="0"/>
              <a:t>customer</a:t>
            </a:r>
            <a:r>
              <a:rPr lang="en-US" sz="2000" dirty="0"/>
              <a:t> and </a:t>
            </a:r>
            <a:r>
              <a:rPr lang="en-US" sz="2000" b="1" dirty="0"/>
              <a:t>supplier</a:t>
            </a:r>
            <a:r>
              <a:rPr lang="en-US" sz="2000" dirty="0"/>
              <a:t> links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000" dirty="0"/>
              <a:t>Merger activity aggregates </a:t>
            </a:r>
            <a:r>
              <a:rPr lang="en-US" sz="2000" b="1" dirty="0"/>
              <a:t>into economy wide </a:t>
            </a:r>
            <a:r>
              <a:rPr lang="en-US" sz="2000" dirty="0"/>
              <a:t>merger waves due to merger activity in central nodes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How does this relate to the previous literature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000" dirty="0"/>
              <a:t>holdup problems, valuation motivated mergers, complementary assets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2889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Customer-Supplier Trade Network Data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dirty="0"/>
              <a:t>IO data obtained from BEA to form links between industries based on customer and supplier relations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Merger Network Data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dirty="0"/>
              <a:t>Obtained from SDC Thomson Platinum Database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Other Industry Characteristics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dirty="0"/>
              <a:t>Proxies for holdup problems, complementary assets, valuation-driven mergers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dirty="0"/>
              <a:t>Networks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dirty="0"/>
              <a:t>Use graph theory to link industries based of node and link relationship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727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49193-CA5B-4416-830C-94DB56B98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6F6AF-66A0-4C7D-93E5-BFE462E3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02" y="1522322"/>
            <a:ext cx="8515395" cy="2315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C61BEB-388E-49D2-B681-1D94C8689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54" y="4171168"/>
            <a:ext cx="8515394" cy="23131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1D09C9-4F3F-4418-9617-588D7C8D5195}"/>
              </a:ext>
            </a:extLst>
          </p:cNvPr>
          <p:cNvCxnSpPr/>
          <p:nvPr/>
        </p:nvCxnSpPr>
        <p:spPr>
          <a:xfrm>
            <a:off x="1349406" y="3986074"/>
            <a:ext cx="900429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77AB2E-F28F-4103-9D65-03148BC227CF}"/>
              </a:ext>
            </a:extLst>
          </p:cNvPr>
          <p:cNvSpPr/>
          <p:nvPr/>
        </p:nvSpPr>
        <p:spPr>
          <a:xfrm rot="12776668">
            <a:off x="5616713" y="2601133"/>
            <a:ext cx="1951380" cy="62702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A5F6B0-E799-4A6E-99FF-34A8C4254759}"/>
              </a:ext>
            </a:extLst>
          </p:cNvPr>
          <p:cNvSpPr/>
          <p:nvPr/>
        </p:nvSpPr>
        <p:spPr>
          <a:xfrm rot="12776668">
            <a:off x="5489107" y="5448905"/>
            <a:ext cx="2456478" cy="66078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0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101601"/>
            <a:ext cx="7687733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Figure 1 Cont.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9C4AA7DC-A782-4063-8764-6CB19E6F8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960" y="1478844"/>
            <a:ext cx="10158080" cy="4647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7666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101601"/>
            <a:ext cx="7687733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Input-Output Summary Statistics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CB4CDC-E5AA-4BC6-9DEF-72E0B1A1A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802" y="1478844"/>
            <a:ext cx="9112395" cy="4647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41C0517-1379-4AE8-80B5-A76F3E9621EE}"/>
              </a:ext>
            </a:extLst>
          </p:cNvPr>
          <p:cNvSpPr/>
          <p:nvPr/>
        </p:nvSpPr>
        <p:spPr>
          <a:xfrm>
            <a:off x="3018408" y="2780522"/>
            <a:ext cx="629861" cy="20527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C8C496F-0F26-4F5D-AB13-24902CD913CF}"/>
              </a:ext>
            </a:extLst>
          </p:cNvPr>
          <p:cNvSpPr/>
          <p:nvPr/>
        </p:nvSpPr>
        <p:spPr>
          <a:xfrm>
            <a:off x="6943818" y="2780522"/>
            <a:ext cx="629861" cy="20527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E9219E-FE2B-4C59-A030-738AF9CE55B8}"/>
              </a:ext>
            </a:extLst>
          </p:cNvPr>
          <p:cNvSpPr/>
          <p:nvPr/>
        </p:nvSpPr>
        <p:spPr>
          <a:xfrm>
            <a:off x="2947387" y="4456590"/>
            <a:ext cx="700882" cy="279587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749544-7533-430E-B1D6-422E6440E373}"/>
              </a:ext>
            </a:extLst>
          </p:cNvPr>
          <p:cNvSpPr/>
          <p:nvPr/>
        </p:nvSpPr>
        <p:spPr>
          <a:xfrm>
            <a:off x="6799792" y="4463218"/>
            <a:ext cx="700882" cy="279587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8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Aggregate Merger Activity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7559DC-6D30-4103-9C32-DBB9FECD8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858" y="1402702"/>
            <a:ext cx="7930511" cy="4052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12EEDA-95E5-4D8F-A7B3-8957FB370C65}"/>
              </a:ext>
            </a:extLst>
          </p:cNvPr>
          <p:cNvSpPr txBox="1"/>
          <p:nvPr/>
        </p:nvSpPr>
        <p:spPr>
          <a:xfrm>
            <a:off x="2052735" y="5710335"/>
            <a:ext cx="8078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Dollar Value and Number of Mergers- Data in terms of 2010-adjusted US dollars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44AC1B-FEED-4570-9794-AA47610F8799}"/>
              </a:ext>
            </a:extLst>
          </p:cNvPr>
          <p:cNvSpPr/>
          <p:nvPr/>
        </p:nvSpPr>
        <p:spPr>
          <a:xfrm>
            <a:off x="3613212" y="4065973"/>
            <a:ext cx="417250" cy="110970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A1FC09-97EC-4144-8466-13CD5BD467E4}"/>
              </a:ext>
            </a:extLst>
          </p:cNvPr>
          <p:cNvSpPr/>
          <p:nvPr/>
        </p:nvSpPr>
        <p:spPr>
          <a:xfrm>
            <a:off x="5779363" y="1740024"/>
            <a:ext cx="701336" cy="343565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78D5FC-EBF0-413A-8433-3DC17659A212}"/>
              </a:ext>
            </a:extLst>
          </p:cNvPr>
          <p:cNvSpPr/>
          <p:nvPr/>
        </p:nvSpPr>
        <p:spPr>
          <a:xfrm>
            <a:off x="7395099" y="2459115"/>
            <a:ext cx="631118" cy="271656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1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E780-DBEB-4D92-A4AD-0334A6AF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01601"/>
            <a:ext cx="7687733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Merger Summary Statistics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51B6DA-467E-4D04-8013-91ECC4AAB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673" y="1564197"/>
            <a:ext cx="7165470" cy="47567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641DCC-6BFD-46D6-836B-A149110A3B89}"/>
              </a:ext>
            </a:extLst>
          </p:cNvPr>
          <p:cNvSpPr/>
          <p:nvPr/>
        </p:nvSpPr>
        <p:spPr>
          <a:xfrm>
            <a:off x="4944862" y="2920753"/>
            <a:ext cx="532660" cy="18643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310C71-EF9E-4635-99D5-BE1A625BEB93}"/>
              </a:ext>
            </a:extLst>
          </p:cNvPr>
          <p:cNvSpPr/>
          <p:nvPr/>
        </p:nvSpPr>
        <p:spPr>
          <a:xfrm>
            <a:off x="6489577" y="2512381"/>
            <a:ext cx="2929631" cy="40837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3088D2-FD2A-4F96-BD25-F942A227B1E0}"/>
              </a:ext>
            </a:extLst>
          </p:cNvPr>
          <p:cNvSpPr/>
          <p:nvPr/>
        </p:nvSpPr>
        <p:spPr>
          <a:xfrm>
            <a:off x="4944862" y="4944862"/>
            <a:ext cx="532660" cy="25745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63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8F5B-B81B-4B73-98C0-4F6141056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49936"/>
            <a:ext cx="7687733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Degree Distribution of Merger and IO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EEE08-7FAE-495C-B903-C7871E4A1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14" y="1660124"/>
            <a:ext cx="8125405" cy="41549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23A269-564E-4C1B-9782-784EA870F2AD}"/>
              </a:ext>
            </a:extLst>
          </p:cNvPr>
          <p:cNvSpPr txBox="1"/>
          <p:nvPr/>
        </p:nvSpPr>
        <p:spPr>
          <a:xfrm>
            <a:off x="8575829" y="1660124"/>
            <a:ext cx="3142695" cy="41549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Figures show distribution of degree centrality in log-log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Clustering may indicate that the distribution follows a power law,</a:t>
            </a:r>
          </a:p>
          <a:p>
            <a:r>
              <a:rPr lang="en-US" dirty="0"/>
              <a:t>	P(k) = ck</a:t>
            </a:r>
            <a:r>
              <a:rPr lang="en-US" baseline="30000" dirty="0"/>
              <a:t>-</a:t>
            </a:r>
            <a:r>
              <a:rPr lang="el-GR" baseline="30000" dirty="0"/>
              <a:t>α</a:t>
            </a:r>
            <a:endParaRPr lang="en-US" baseline="30000" dirty="0"/>
          </a:p>
          <a:p>
            <a:endParaRPr lang="en-US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mergers and IO connections have few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Clustering in small set of industries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0EB5F3-2910-4397-840D-E9B0CE822F27}"/>
              </a:ext>
            </a:extLst>
          </p:cNvPr>
          <p:cNvSpPr/>
          <p:nvPr/>
        </p:nvSpPr>
        <p:spPr>
          <a:xfrm rot="19809887">
            <a:off x="7075503" y="3542190"/>
            <a:ext cx="443884" cy="1260629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59B22F-8664-42B5-BBAC-E19A000D3940}"/>
              </a:ext>
            </a:extLst>
          </p:cNvPr>
          <p:cNvSpPr/>
          <p:nvPr/>
        </p:nvSpPr>
        <p:spPr>
          <a:xfrm>
            <a:off x="1367161" y="2423604"/>
            <a:ext cx="1091954" cy="337351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2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88AC-3FF4-400E-B8C8-AD753DE80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307909"/>
            <a:ext cx="7687733" cy="936691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Mean and Median Network Statistics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3D1CC-9F83-4216-B98A-60B287B52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12749"/>
            <a:ext cx="10972799" cy="403250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182BE2-5717-46F7-9F64-D2D32F0128F1}"/>
              </a:ext>
            </a:extLst>
          </p:cNvPr>
          <p:cNvSpPr txBox="1"/>
          <p:nvPr/>
        </p:nvSpPr>
        <p:spPr>
          <a:xfrm>
            <a:off x="609599" y="5613400"/>
            <a:ext cx="10972799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Networks are sparse and highly connected through central hub industries!!!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82DB57-6CFC-45E0-851B-28F31B7B6655}"/>
              </a:ext>
            </a:extLst>
          </p:cNvPr>
          <p:cNvSpPr/>
          <p:nvPr/>
        </p:nvSpPr>
        <p:spPr>
          <a:xfrm>
            <a:off x="4953740" y="2689934"/>
            <a:ext cx="781235" cy="21306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D66C49-225A-45BC-9E38-05A8D41B77C8}"/>
              </a:ext>
            </a:extLst>
          </p:cNvPr>
          <p:cNvSpPr/>
          <p:nvPr/>
        </p:nvSpPr>
        <p:spPr>
          <a:xfrm>
            <a:off x="7662909" y="2689934"/>
            <a:ext cx="781235" cy="21306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15579B-49A1-433C-9388-2DAD971BBE80}"/>
              </a:ext>
            </a:extLst>
          </p:cNvPr>
          <p:cNvSpPr/>
          <p:nvPr/>
        </p:nvSpPr>
        <p:spPr>
          <a:xfrm>
            <a:off x="10246311" y="2689934"/>
            <a:ext cx="781235" cy="21306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7621DD-6AF9-492E-8BF0-5649AD926B9D}"/>
              </a:ext>
            </a:extLst>
          </p:cNvPr>
          <p:cNvSpPr/>
          <p:nvPr/>
        </p:nvSpPr>
        <p:spPr>
          <a:xfrm>
            <a:off x="4953740" y="4998128"/>
            <a:ext cx="6152225" cy="213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C10760-E895-4620-9051-2088899DDE57}"/>
              </a:ext>
            </a:extLst>
          </p:cNvPr>
          <p:cNvSpPr/>
          <p:nvPr/>
        </p:nvSpPr>
        <p:spPr>
          <a:xfrm>
            <a:off x="4930067" y="3844031"/>
            <a:ext cx="6152225" cy="21306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65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3673-CDAA-4AF3-91B0-BDB4E342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17241"/>
            <a:ext cx="7408852" cy="71845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The Most Central Industries in the IO and Merger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EC26B-1067-4231-AC55-FC55381EC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687" y="1478844"/>
            <a:ext cx="8012624" cy="46473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2D8A6B-5D76-4C85-AB9B-E4D869E309B0}"/>
              </a:ext>
            </a:extLst>
          </p:cNvPr>
          <p:cNvSpPr/>
          <p:nvPr/>
        </p:nvSpPr>
        <p:spPr>
          <a:xfrm>
            <a:off x="2672179" y="1979720"/>
            <a:ext cx="1296139" cy="2485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69CDC3-84A9-494D-9744-0A85C749D9A2}"/>
              </a:ext>
            </a:extLst>
          </p:cNvPr>
          <p:cNvSpPr/>
          <p:nvPr/>
        </p:nvSpPr>
        <p:spPr>
          <a:xfrm>
            <a:off x="5079507" y="2451717"/>
            <a:ext cx="1296139" cy="2485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3A85B7-19BF-43DE-A10F-495D373F84BD}"/>
              </a:ext>
            </a:extLst>
          </p:cNvPr>
          <p:cNvSpPr/>
          <p:nvPr/>
        </p:nvSpPr>
        <p:spPr>
          <a:xfrm>
            <a:off x="7430611" y="2451718"/>
            <a:ext cx="1368640" cy="2219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623743-8F87-4CC1-AB25-60B97B30F2DE}"/>
              </a:ext>
            </a:extLst>
          </p:cNvPr>
          <p:cNvSpPr/>
          <p:nvPr/>
        </p:nvSpPr>
        <p:spPr>
          <a:xfrm>
            <a:off x="5079506" y="2894864"/>
            <a:ext cx="1296139" cy="2219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646151-1882-4E30-8240-9628908B9296}"/>
              </a:ext>
            </a:extLst>
          </p:cNvPr>
          <p:cNvSpPr/>
          <p:nvPr/>
        </p:nvSpPr>
        <p:spPr>
          <a:xfrm>
            <a:off x="7430610" y="2894865"/>
            <a:ext cx="1368639" cy="2219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B39EDE-9015-41A2-B29A-ADF6E5191D46}"/>
              </a:ext>
            </a:extLst>
          </p:cNvPr>
          <p:cNvSpPr/>
          <p:nvPr/>
        </p:nvSpPr>
        <p:spPr>
          <a:xfrm>
            <a:off x="7430612" y="3116807"/>
            <a:ext cx="1368639" cy="22194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B87343-E803-4BBE-A3D6-1C94E6B47BBF}"/>
              </a:ext>
            </a:extLst>
          </p:cNvPr>
          <p:cNvSpPr/>
          <p:nvPr/>
        </p:nvSpPr>
        <p:spPr>
          <a:xfrm>
            <a:off x="7467601" y="4148043"/>
            <a:ext cx="2217937" cy="29966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BF0B91-BC46-42A2-B300-AF2D2FB02F3F}"/>
              </a:ext>
            </a:extLst>
          </p:cNvPr>
          <p:cNvSpPr/>
          <p:nvPr/>
        </p:nvSpPr>
        <p:spPr>
          <a:xfrm>
            <a:off x="5079506" y="3116806"/>
            <a:ext cx="2217937" cy="18643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56B84D-4476-4285-AD61-BC9077C7CFF3}"/>
              </a:ext>
            </a:extLst>
          </p:cNvPr>
          <p:cNvSpPr/>
          <p:nvPr/>
        </p:nvSpPr>
        <p:spPr>
          <a:xfrm>
            <a:off x="5079505" y="1975231"/>
            <a:ext cx="1099353" cy="29966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4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847C-833C-4BD6-954A-839DCF31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Correlations between Industry Characteristics across Networks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35890A-7B78-4D06-8D8E-E96F5CD06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805858"/>
            <a:ext cx="10972800" cy="39939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3AEF175-6446-478A-A1A8-4A7B0EACC5D4}"/>
              </a:ext>
            </a:extLst>
          </p:cNvPr>
          <p:cNvSpPr/>
          <p:nvPr/>
        </p:nvSpPr>
        <p:spPr>
          <a:xfrm>
            <a:off x="2547890" y="2885243"/>
            <a:ext cx="2032987" cy="37286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25F575-11C3-4D0F-9A05-2B5061DB4CB1}"/>
              </a:ext>
            </a:extLst>
          </p:cNvPr>
          <p:cNvSpPr/>
          <p:nvPr/>
        </p:nvSpPr>
        <p:spPr>
          <a:xfrm>
            <a:off x="6010184" y="4074850"/>
            <a:ext cx="1882066" cy="37286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6A2BE3-7FD5-4C89-AD60-7B8D213F4650}"/>
              </a:ext>
            </a:extLst>
          </p:cNvPr>
          <p:cNvSpPr/>
          <p:nvPr/>
        </p:nvSpPr>
        <p:spPr>
          <a:xfrm>
            <a:off x="9534617" y="5246703"/>
            <a:ext cx="1899822" cy="36398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11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F599-8FC6-40F8-B29E-DC6FF0FF5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04185"/>
            <a:ext cx="7687733" cy="1040415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b="1" i="0" u="none" strike="noStrike" baseline="0" dirty="0"/>
              <a:t>Exponential Random Graph Model to Explain the M&amp;A Network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2E3AED3-4457-41FB-AA0C-F4E8F6FB560B}"/>
              </a:ext>
            </a:extLst>
          </p:cNvPr>
          <p:cNvGrpSpPr/>
          <p:nvPr/>
        </p:nvGrpSpPr>
        <p:grpSpPr>
          <a:xfrm>
            <a:off x="907450" y="1388092"/>
            <a:ext cx="6275617" cy="4993305"/>
            <a:chOff x="2958192" y="1323519"/>
            <a:chExt cx="6275617" cy="499330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CEE38BC-36EF-4E9E-8266-F00522F2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8192" y="3853543"/>
              <a:ext cx="6275616" cy="24632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577DC2E-F0E2-4FE3-BECC-B9A0F44E1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58192" y="1323519"/>
              <a:ext cx="6275617" cy="253002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9496F64-8481-4682-9814-CCC367EADB2E}"/>
              </a:ext>
            </a:extLst>
          </p:cNvPr>
          <p:cNvSpPr txBox="1"/>
          <p:nvPr/>
        </p:nvSpPr>
        <p:spPr>
          <a:xfrm>
            <a:off x="7661429" y="1388092"/>
            <a:ext cx="4111393" cy="50475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ERGM produces MLE estimates of an entire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Coefficient values are the marginal effect of a variable on the conditional log-odds that two industries will have additional interindustry merger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Columns 1 through 4 show that the four IO network connections increase likelihood of merger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Column 5 is a joint test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Column 6 adds industry characteristics to account for holdup problems, overvaluation and economic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effectLst/>
              <a:latin typeface="+mj-lt"/>
              <a:ea typeface="Noto Serif CJK SC"/>
              <a:cs typeface="Lohit Devanaga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+mj-lt"/>
                <a:ea typeface="Noto Serif CJK SC"/>
                <a:cs typeface="Lohit Devanagari"/>
              </a:rPr>
              <a:t>Column 7 is an interaction variable between IO connections and R&amp;D</a:t>
            </a:r>
            <a:endParaRPr lang="en-US" sz="1400" dirty="0">
              <a:latin typeface="+mj-lt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400" dirty="0">
              <a:latin typeface="+mj-lt"/>
            </a:endParaRPr>
          </a:p>
          <a:p>
            <a:pPr algn="ctr"/>
            <a:r>
              <a:rPr lang="en-US" sz="1400" b="1" dirty="0">
                <a:latin typeface="+mj-lt"/>
              </a:rPr>
              <a:t>C</a:t>
            </a:r>
            <a:r>
              <a:rPr lang="en-US" sz="1400" b="1" i="0" u="none" strike="noStrike" baseline="0" dirty="0">
                <a:latin typeface="+mj-lt"/>
              </a:rPr>
              <a:t>ross-industry merger activity is related to the strength of the customer-supplier relationship</a:t>
            </a:r>
            <a:endParaRPr lang="en-US" sz="1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3254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76B41-26BE-4FF2-9634-53D4F346D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60335"/>
            <a:ext cx="7687733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T-statistics from yearly ERGM tests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C390C-3DFF-4E5D-9152-4A3B0A3B0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402" y="1478844"/>
            <a:ext cx="8153195" cy="4647321"/>
          </a:xfrm>
          <a:prstGeom prst="rect">
            <a:avLst/>
          </a:prstGeom>
          <a:noFill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9143626-A69D-4803-AD24-59AAB13C5AF0}"/>
              </a:ext>
            </a:extLst>
          </p:cNvPr>
          <p:cNvSpPr/>
          <p:nvPr/>
        </p:nvSpPr>
        <p:spPr>
          <a:xfrm>
            <a:off x="2396971" y="1811046"/>
            <a:ext cx="488272" cy="225492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F41E52-5DC4-4693-9FC1-7852BA434C97}"/>
              </a:ext>
            </a:extLst>
          </p:cNvPr>
          <p:cNvCxnSpPr>
            <a:cxnSpLocks/>
          </p:cNvCxnSpPr>
          <p:nvPr/>
        </p:nvCxnSpPr>
        <p:spPr>
          <a:xfrm>
            <a:off x="3098307" y="2867487"/>
            <a:ext cx="689794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790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C84FE-2433-4A33-AA99-E8B1A0E2D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Diffusion of Merger Activity in Timber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08ED0-0B99-4D49-AF19-150970DA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4" y="1673506"/>
            <a:ext cx="4795936" cy="1963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A168E7-32EF-4D1F-9A60-2CB9CB1E6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931" y="1580186"/>
            <a:ext cx="5799218" cy="2216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B3EAE6-88FC-4286-9289-F72849420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670" y="4065965"/>
            <a:ext cx="5810660" cy="221674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E8E965-D34E-4041-90E4-3603050F5BAD}"/>
              </a:ext>
            </a:extLst>
          </p:cNvPr>
          <p:cNvCxnSpPr>
            <a:cxnSpLocks/>
          </p:cNvCxnSpPr>
          <p:nvPr/>
        </p:nvCxnSpPr>
        <p:spPr>
          <a:xfrm>
            <a:off x="2174033" y="3937518"/>
            <a:ext cx="8150697" cy="96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64763A-7239-490A-B78F-BE430719C378}"/>
              </a:ext>
            </a:extLst>
          </p:cNvPr>
          <p:cNvCxnSpPr/>
          <p:nvPr/>
        </p:nvCxnSpPr>
        <p:spPr>
          <a:xfrm>
            <a:off x="5726097" y="1374300"/>
            <a:ext cx="0" cy="24723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7DB370-FCEB-480A-9E67-8435DE1B5DEE}"/>
              </a:ext>
            </a:extLst>
          </p:cNvPr>
          <p:cNvCxnSpPr>
            <a:cxnSpLocks/>
          </p:cNvCxnSpPr>
          <p:nvPr/>
        </p:nvCxnSpPr>
        <p:spPr>
          <a:xfrm>
            <a:off x="2400866" y="2131102"/>
            <a:ext cx="917987" cy="38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ADCDB9E-21F8-4EE0-9DD5-AC5347DE822D}"/>
              </a:ext>
            </a:extLst>
          </p:cNvPr>
          <p:cNvSpPr/>
          <p:nvPr/>
        </p:nvSpPr>
        <p:spPr>
          <a:xfrm>
            <a:off x="2059619" y="2068497"/>
            <a:ext cx="114414" cy="126062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D2F60-96E1-463F-A375-1494ACE2E520}"/>
              </a:ext>
            </a:extLst>
          </p:cNvPr>
          <p:cNvSpPr/>
          <p:nvPr/>
        </p:nvSpPr>
        <p:spPr>
          <a:xfrm>
            <a:off x="5220070" y="4287915"/>
            <a:ext cx="1145219" cy="621436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2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4D4F-CF42-473F-99DA-277FFD9C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Closeness-Weighted M&amp;A Activity in Connected Industries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E4C35-6948-4CD7-88A9-2018334AA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6" y="1478844"/>
            <a:ext cx="10972799" cy="4647321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2400" b="0" i="0" u="none" strike="noStrike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b="0" i="0" u="none" strike="noStrike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en-US" sz="1900" b="0" i="1" u="none" strike="noStrike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sz="19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shortest path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 industries </a:t>
            </a:r>
            <a:r>
              <a:rPr lang="en-US" sz="19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900" b="0" i="1" u="none" strike="noStrike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jkt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measure of M&amp;As between industries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year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Shortest path calculated for </a:t>
            </a:r>
            <a:r>
              <a:rPr lang="en-US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customer and supplier links &gt; 1%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measure accounts for an industry’s exposure to </a:t>
            </a:r>
            <a:r>
              <a:rPr lang="en-US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merger activity </a:t>
            </a: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more </a:t>
            </a:r>
            <a:r>
              <a:rPr lang="en-US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closely connected industries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 merger activity</a:t>
            </a: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also be caused by macroeconomic and technological shocks. </a:t>
            </a:r>
            <a:r>
              <a:rPr lang="en-US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between industries </a:t>
            </a:r>
            <a:r>
              <a:rPr lang="en-US" sz="1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matter</a:t>
            </a: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thus we need controls</a:t>
            </a:r>
          </a:p>
          <a:p>
            <a:pPr algn="l"/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0" i="0" u="none" strike="noStrike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900" b="0" i="0" u="none" strike="noStrike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900" b="0" i="1" u="none" strike="noStrike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i,t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∑</a:t>
            </a:r>
            <a:r>
              <a:rPr lang="en-US" sz="1900" b="0" i="1" u="none" strike="noStrike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</a:t>
            </a:r>
            <a:r>
              <a:rPr lang="en-US" sz="1900" b="0" i="1" u="none" strike="noStrike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ijt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number of industry pairs involving industry </a:t>
            </a:r>
            <a:r>
              <a:rPr lang="en-US" sz="1900" b="0" i="1" u="none" strike="noStrike" baseline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experience high merger activity in year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as above. The industry fixed effects,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n-US" sz="1900" b="0" i="1" u="none" strike="noStrike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control for all time-invariant industry characteristics. Year fixed effects, </a:t>
            </a:r>
            <a:r>
              <a:rPr lang="en-US" sz="1900" b="0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US" sz="1900" b="0" i="1" u="none" strike="noStrike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900" b="0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capture any macroeconomic shock.</a:t>
            </a:r>
            <a:endParaRPr lang="en-US"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1">
            <a:extLst>
              <a:ext uri="{FF2B5EF4-FFF2-40B4-BE49-F238E27FC236}">
                <a16:creationId xmlns:a16="http://schemas.microsoft.com/office/drawing/2014/main" id="{F27D5227-1CB7-493D-8467-F1D510CCDF2A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979028" y="1340528"/>
            <a:ext cx="5658945" cy="75460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pic>
        <p:nvPicPr>
          <p:cNvPr id="6" name="Image2">
            <a:extLst>
              <a:ext uri="{FF2B5EF4-FFF2-40B4-BE49-F238E27FC236}">
                <a16:creationId xmlns:a16="http://schemas.microsoft.com/office/drawing/2014/main" id="{D427F3D7-95BD-4CB5-BE7B-F62FB96538C3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979028" y="4245789"/>
            <a:ext cx="5658945" cy="6661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542965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3CC3-52B1-47BD-8137-51A74AEC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98579"/>
            <a:ext cx="7687733" cy="946021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The Dynamic of Impact of Mergers in Close Industries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0366B6-0A2D-47DB-8C59-EBD7CD4CAB77}"/>
              </a:ext>
            </a:extLst>
          </p:cNvPr>
          <p:cNvGrpSpPr/>
          <p:nvPr/>
        </p:nvGrpSpPr>
        <p:grpSpPr>
          <a:xfrm>
            <a:off x="429208" y="1244600"/>
            <a:ext cx="10241751" cy="5212184"/>
            <a:chOff x="429208" y="1244600"/>
            <a:chExt cx="10241751" cy="52121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546BA6-22B2-40A3-A846-69F8B89ED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522" y="1244600"/>
              <a:ext cx="9954496" cy="314278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9CD10E8-314C-4435-93E7-CF963739F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208" y="4461879"/>
              <a:ext cx="10241751" cy="199490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D8D6258-B2A9-4DAC-894E-5F8A3C834759}"/>
              </a:ext>
            </a:extLst>
          </p:cNvPr>
          <p:cNvSpPr/>
          <p:nvPr/>
        </p:nvSpPr>
        <p:spPr>
          <a:xfrm>
            <a:off x="5166804" y="1544715"/>
            <a:ext cx="710213" cy="20418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FE8414-CCF8-4EF6-A84F-3CF5855C72CF}"/>
              </a:ext>
            </a:extLst>
          </p:cNvPr>
          <p:cNvSpPr/>
          <p:nvPr/>
        </p:nvSpPr>
        <p:spPr>
          <a:xfrm>
            <a:off x="8888028" y="1544715"/>
            <a:ext cx="646590" cy="20418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F5F39-6841-4D22-831B-EE445C76242B}"/>
              </a:ext>
            </a:extLst>
          </p:cNvPr>
          <p:cNvSpPr/>
          <p:nvPr/>
        </p:nvSpPr>
        <p:spPr>
          <a:xfrm>
            <a:off x="3595456" y="2539014"/>
            <a:ext cx="656948" cy="18643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B4C4CE-5AF2-49D4-B354-4BCE718F54B7}"/>
              </a:ext>
            </a:extLst>
          </p:cNvPr>
          <p:cNvSpPr/>
          <p:nvPr/>
        </p:nvSpPr>
        <p:spPr>
          <a:xfrm>
            <a:off x="7353338" y="2539014"/>
            <a:ext cx="656948" cy="18643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89FB2B-4049-4CF9-BEBA-4556ADBEA2F2}"/>
              </a:ext>
            </a:extLst>
          </p:cNvPr>
          <p:cNvSpPr/>
          <p:nvPr/>
        </p:nvSpPr>
        <p:spPr>
          <a:xfrm>
            <a:off x="4802819" y="2965142"/>
            <a:ext cx="150921" cy="1065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585530-3921-4C9B-A5D8-5AC03195AB2F}"/>
              </a:ext>
            </a:extLst>
          </p:cNvPr>
          <p:cNvSpPr/>
          <p:nvPr/>
        </p:nvSpPr>
        <p:spPr>
          <a:xfrm>
            <a:off x="4802818" y="3298566"/>
            <a:ext cx="150921" cy="1065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133ADF-8414-49D0-8EFF-75689F4DF6E4}"/>
              </a:ext>
            </a:extLst>
          </p:cNvPr>
          <p:cNvSpPr/>
          <p:nvPr/>
        </p:nvSpPr>
        <p:spPr>
          <a:xfrm>
            <a:off x="6020539" y="2941980"/>
            <a:ext cx="150921" cy="1065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E0A1D5A-F4D3-4306-937A-FC1F0A72025F}"/>
              </a:ext>
            </a:extLst>
          </p:cNvPr>
          <p:cNvSpPr/>
          <p:nvPr/>
        </p:nvSpPr>
        <p:spPr>
          <a:xfrm>
            <a:off x="6020538" y="3322468"/>
            <a:ext cx="150921" cy="1065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D8A3E0-631B-43CC-A56D-E0DEBF51407C}"/>
              </a:ext>
            </a:extLst>
          </p:cNvPr>
          <p:cNvSpPr/>
          <p:nvPr/>
        </p:nvSpPr>
        <p:spPr>
          <a:xfrm>
            <a:off x="8497410" y="2965142"/>
            <a:ext cx="150921" cy="1065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665B40-125A-4217-A840-68B72164EAA4}"/>
              </a:ext>
            </a:extLst>
          </p:cNvPr>
          <p:cNvSpPr/>
          <p:nvPr/>
        </p:nvSpPr>
        <p:spPr>
          <a:xfrm>
            <a:off x="9715130" y="2982898"/>
            <a:ext cx="134645" cy="6066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79D9E89-1625-4D93-AB3C-585ACBEF0381}"/>
              </a:ext>
            </a:extLst>
          </p:cNvPr>
          <p:cNvSpPr/>
          <p:nvPr/>
        </p:nvSpPr>
        <p:spPr>
          <a:xfrm>
            <a:off x="8497409" y="3322468"/>
            <a:ext cx="150921" cy="1065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BB71B1-0415-473E-AA28-0C2A101420B5}"/>
              </a:ext>
            </a:extLst>
          </p:cNvPr>
          <p:cNvSpPr/>
          <p:nvPr/>
        </p:nvSpPr>
        <p:spPr>
          <a:xfrm>
            <a:off x="9698854" y="3322468"/>
            <a:ext cx="150921" cy="1065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37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2E4F-9CDA-461B-9E46-DE863473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Diffusion of Merger Activity across Close and Distant Industries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9B43CA5-61F5-45F2-BFD8-A90D08D48B84}"/>
              </a:ext>
            </a:extLst>
          </p:cNvPr>
          <p:cNvGrpSpPr/>
          <p:nvPr/>
        </p:nvGrpSpPr>
        <p:grpSpPr>
          <a:xfrm>
            <a:off x="5833770" y="1244601"/>
            <a:ext cx="5920265" cy="5278204"/>
            <a:chOff x="2176171" y="928881"/>
            <a:chExt cx="9154597" cy="749374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92C147E-5917-4253-AE34-1CFE31E5E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9562" y="928881"/>
              <a:ext cx="9071205" cy="297184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E3D059E-4FB1-4894-8FE1-E2D0C9587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6171" y="3816220"/>
              <a:ext cx="9154597" cy="4606407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737633-19A4-4508-895F-E3D5928A4437}"/>
              </a:ext>
            </a:extLst>
          </p:cNvPr>
          <p:cNvSpPr txBox="1"/>
          <p:nvPr/>
        </p:nvSpPr>
        <p:spPr>
          <a:xfrm>
            <a:off x="643466" y="1244601"/>
            <a:ext cx="481494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How does </a:t>
            </a:r>
            <a:r>
              <a:rPr lang="en-US" b="1" dirty="0"/>
              <a:t>distance</a:t>
            </a:r>
            <a:r>
              <a:rPr lang="en-US" dirty="0"/>
              <a:t> between two industries across the network affect </a:t>
            </a:r>
            <a:r>
              <a:rPr lang="en-US" b="1" dirty="0"/>
              <a:t>diffusion across time</a:t>
            </a:r>
            <a:r>
              <a:rPr lang="en-US" dirty="0"/>
              <a:t>??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Does merger activity </a:t>
            </a:r>
            <a:r>
              <a:rPr lang="en-US" b="1" dirty="0"/>
              <a:t>in closely </a:t>
            </a:r>
            <a:r>
              <a:rPr lang="en-US" dirty="0"/>
              <a:t>connected industries have </a:t>
            </a:r>
            <a:r>
              <a:rPr lang="en-US" b="1" dirty="0"/>
              <a:t>greater impact </a:t>
            </a:r>
            <a:r>
              <a:rPr lang="en-US" dirty="0"/>
              <a:t>in the near future than periphery industries??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Author’s test hypothesis with the following equation: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9" name="Image3">
            <a:extLst>
              <a:ext uri="{FF2B5EF4-FFF2-40B4-BE49-F238E27FC236}">
                <a16:creationId xmlns:a16="http://schemas.microsoft.com/office/drawing/2014/main" id="{BAEDC8EA-E203-41E4-BD57-D52EA411C820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61441" y="4058564"/>
            <a:ext cx="4814942" cy="872361"/>
          </a:xfrm>
          <a:prstGeom prst="rect">
            <a:avLst/>
          </a:prstGeom>
          <a:ln>
            <a:solidFill>
              <a:srgbClr val="C00000"/>
            </a:solidFill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F0EF23-2E31-4FEE-9265-5FAF2D1434FF}"/>
              </a:ext>
            </a:extLst>
          </p:cNvPr>
          <p:cNvCxnSpPr/>
          <p:nvPr/>
        </p:nvCxnSpPr>
        <p:spPr>
          <a:xfrm>
            <a:off x="5655076" y="1244601"/>
            <a:ext cx="0" cy="527820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8CFD01-A022-4402-8591-01B7D233B6F2}"/>
              </a:ext>
            </a:extLst>
          </p:cNvPr>
          <p:cNvSpPr/>
          <p:nvPr/>
        </p:nvSpPr>
        <p:spPr>
          <a:xfrm>
            <a:off x="7013359" y="2130641"/>
            <a:ext cx="4740676" cy="346229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9D39FC-E47C-4B7A-B944-BB16C5425F55}"/>
              </a:ext>
            </a:extLst>
          </p:cNvPr>
          <p:cNvSpPr/>
          <p:nvPr/>
        </p:nvSpPr>
        <p:spPr>
          <a:xfrm>
            <a:off x="7688061" y="3968318"/>
            <a:ext cx="1107427" cy="17570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1C1606-C41E-4E09-B308-A3D3E4DF2CF9}"/>
              </a:ext>
            </a:extLst>
          </p:cNvPr>
          <p:cNvSpPr/>
          <p:nvPr/>
        </p:nvSpPr>
        <p:spPr>
          <a:xfrm>
            <a:off x="10030626" y="3973106"/>
            <a:ext cx="1652388" cy="170916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86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E57A-2CAB-40D6-B80D-DCC7DC78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373224"/>
            <a:ext cx="7687733" cy="765112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Network Centrality and Industry Merger Waves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268DF9-B139-4CF0-AA0A-57EB76E9B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851" y="1231177"/>
            <a:ext cx="8082297" cy="4647321"/>
          </a:xfrm>
          <a:prstGeom prst="rect">
            <a:avLst/>
          </a:prstGeom>
          <a:noFill/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228C68-4F08-426A-8140-D2377701D004}"/>
              </a:ext>
            </a:extLst>
          </p:cNvPr>
          <p:cNvSpPr/>
          <p:nvPr/>
        </p:nvSpPr>
        <p:spPr>
          <a:xfrm>
            <a:off x="3981304" y="3090625"/>
            <a:ext cx="727969" cy="245023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14252A-A523-483F-8E0D-D4190945AC34}"/>
              </a:ext>
            </a:extLst>
          </p:cNvPr>
          <p:cNvSpPr/>
          <p:nvPr/>
        </p:nvSpPr>
        <p:spPr>
          <a:xfrm>
            <a:off x="5732014" y="2136419"/>
            <a:ext cx="727969" cy="3490404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BEC30D-41AB-4CDA-B8B3-1A89A12ABA65}"/>
              </a:ext>
            </a:extLst>
          </p:cNvPr>
          <p:cNvSpPr/>
          <p:nvPr/>
        </p:nvSpPr>
        <p:spPr>
          <a:xfrm>
            <a:off x="7570596" y="2530136"/>
            <a:ext cx="727969" cy="298437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5CF6F-0C73-4E36-8CFF-77B0F1425EA6}"/>
              </a:ext>
            </a:extLst>
          </p:cNvPr>
          <p:cNvSpPr txBox="1"/>
          <p:nvPr/>
        </p:nvSpPr>
        <p:spPr>
          <a:xfrm>
            <a:off x="3296859" y="6054002"/>
            <a:ext cx="6326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High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ρ between Centrality and Merger Waves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3583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D35E5-3C62-4090-8346-3EFE4600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Aggregate Merger Activity and Centrality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45197F-0CC1-4666-A74B-89600F23DF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6" y="1492504"/>
            <a:ext cx="5001445" cy="4646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4A2B98-7DFD-4F19-8221-931E82A8E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34" y="3886831"/>
            <a:ext cx="5524500" cy="22522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CB8408-146C-4BBB-983E-54D70D8B1670}"/>
              </a:ext>
            </a:extLst>
          </p:cNvPr>
          <p:cNvSpPr/>
          <p:nvPr/>
        </p:nvSpPr>
        <p:spPr>
          <a:xfrm>
            <a:off x="568171" y="2414726"/>
            <a:ext cx="4838330" cy="28408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85838E-5C45-49CC-AAF8-B6EA04CC30E0}"/>
              </a:ext>
            </a:extLst>
          </p:cNvPr>
          <p:cNvSpPr/>
          <p:nvPr/>
        </p:nvSpPr>
        <p:spPr>
          <a:xfrm>
            <a:off x="643466" y="4986341"/>
            <a:ext cx="4838330" cy="28408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95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3E5D7-93C7-49FC-871A-05E321498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10527-DD09-4290-B6DD-13C637E6C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6" y="1354556"/>
            <a:ext cx="10972799" cy="4647321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Customer-supplier trade flows were used to model the US economy as a network from BEA data</a:t>
            </a:r>
          </a:p>
          <a:p>
            <a:pPr marL="1828800" lvl="3" indent="-45720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Larger trade flows mean stronger interindustry connections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 potential questions were tested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kern="0" dirty="0">
                <a:effectLst/>
                <a:latin typeface="Arial" panose="020B0604020202020204" pitchFamily="34" charset="0"/>
                <a:ea typeface="Noto Serif CJK SC"/>
                <a:cs typeface="Arial" panose="020B0604020202020204" pitchFamily="34" charset="0"/>
              </a:rPr>
              <a:t>interindustry mergers cluster in industry pairs with strong trade flows 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kern="0" dirty="0">
                <a:effectLst/>
                <a:latin typeface="Arial" panose="020B0604020202020204" pitchFamily="34" charset="0"/>
                <a:ea typeface="Noto Serif CJK SC"/>
                <a:cs typeface="Arial" panose="020B0604020202020204" pitchFamily="34" charset="0"/>
              </a:rPr>
              <a:t>merger waves propagate across industries through customer-supplier links </a:t>
            </a:r>
            <a:endParaRPr lang="en-US" kern="0" dirty="0">
              <a:latin typeface="Arial" panose="020B0604020202020204" pitchFamily="34" charset="0"/>
              <a:ea typeface="Noto Serif CJK SC"/>
              <a:cs typeface="Arial" panose="020B0604020202020204" pitchFamily="34" charset="0"/>
            </a:endParaRPr>
          </a:p>
          <a:p>
            <a:pPr marL="1828800" lvl="3" indent="-457200">
              <a:buFont typeface="+mj-lt"/>
              <a:buAutoNum type="arabicPeriod"/>
            </a:pPr>
            <a:r>
              <a:rPr lang="en-US" kern="0" dirty="0">
                <a:effectLst/>
                <a:latin typeface="Arial" panose="020B0604020202020204" pitchFamily="34" charset="0"/>
                <a:ea typeface="Noto Serif CJK SC"/>
                <a:cs typeface="Arial" panose="020B0604020202020204" pitchFamily="34" charset="0"/>
              </a:rPr>
              <a:t>the structure of the customer supplier network influences which industries are involved in economy-wide merger waves.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 Main Results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cross-industry mergers are highly clustered in a small number of industry pairs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Industry merger activity travels in wave-like pattern. There is less delay and stronger effects for supplier links when compared to customer links due to the density of the supplier network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central industries experience merger waves at the same time as economy-wide merger waves</a:t>
            </a:r>
          </a:p>
        </p:txBody>
      </p:sp>
    </p:spTree>
    <p:extLst>
      <p:ext uri="{BB962C8B-B14F-4D97-AF65-F5344CB8AC3E}">
        <p14:creationId xmlns:p14="http://schemas.microsoft.com/office/powerpoint/2010/main" val="435112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9E6A-CEA8-46BA-8FBA-99C12BEC9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2872522"/>
            <a:ext cx="9192768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Questions ???</a:t>
            </a:r>
          </a:p>
        </p:txBody>
      </p:sp>
    </p:spTree>
    <p:extLst>
      <p:ext uri="{BB962C8B-B14F-4D97-AF65-F5344CB8AC3E}">
        <p14:creationId xmlns:p14="http://schemas.microsoft.com/office/powerpoint/2010/main" val="305659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1B6108-B5CC-4196-8358-36BAC974F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6" y="1244601"/>
            <a:ext cx="10972799" cy="3806793"/>
          </a:xfrm>
        </p:spPr>
        <p:txBody>
          <a:bodyPr>
            <a:noAutofit/>
          </a:bodyPr>
          <a:lstStyle/>
          <a:p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Acemoglu, Daron, Simon Johnson, and Todd Mitton, 2009, Determinants of vertical integration: Financial development and contracting costs,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Journal of Finance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64, 1251–1290.</a:t>
            </a:r>
          </a:p>
          <a:p>
            <a:pPr algn="l"/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Ahern, Kenneth R., 2012, Bargaining power and industry dependence in mergers,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Journal of Financial Economics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103, 530–550.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Ahern, K.R. and Harford, J. (2014), The Importance of Industry Links in Merger Waves. The Journal of Finance, 69: 527-576. </a:t>
            </a:r>
            <a:endParaRPr lang="en-US" sz="12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Albert, </a:t>
            </a:r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ka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and Albert-Laszlo </a:t>
            </a:r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Barabasi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2002, Statistical mechanics of complex networks,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Review of </a:t>
            </a:r>
            <a:r>
              <a:rPr lang="en-US" sz="1200" b="0" i="1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Moden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Physics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74, 47–97.</a:t>
            </a:r>
          </a:p>
          <a:p>
            <a:pPr algn="l"/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Bhattacharyya, Sugato, and Amrita Nain, 2011, Horizontal acquisitions and buying power: A product market analysis,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Journal of Financial Economics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99, 97–115.</a:t>
            </a:r>
          </a:p>
          <a:p>
            <a:pPr algn="l"/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Bonacich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Philip, 1972, Factoring and weighting approaches to status scores and clique identification,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Journal of Mathematical Sociology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2, 113120.</a:t>
            </a:r>
          </a:p>
          <a:p>
            <a:pPr algn="l"/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Borgatti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Stephen P., 2005, Centrality and network flow,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Social Networks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27, 55–71.</a:t>
            </a:r>
          </a:p>
          <a:p>
            <a:pPr algn="l"/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Clauset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Aaron, </a:t>
            </a:r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Cosma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R. </a:t>
            </a:r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Shalizi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and M. E. J. Newman, 2009, Power-law distributions in empirical data,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SIAM Review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51, 661–703.</a:t>
            </a:r>
          </a:p>
          <a:p>
            <a:pPr algn="l"/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Coase, R. H.,1937, The nature of the firm, </a:t>
            </a:r>
            <a:r>
              <a:rPr lang="en-US" sz="1200" b="0" i="1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Economica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4, 386–405.</a:t>
            </a:r>
          </a:p>
          <a:p>
            <a:pPr algn="l"/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Dijkstra, E. W., 1959, A note on two problems in </a:t>
            </a:r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connexion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with graphs, </a:t>
            </a:r>
            <a:r>
              <a:rPr lang="en-US" sz="1200" b="0" i="1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Numerishce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0" i="1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Mathematik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1, 269–271.</a:t>
            </a:r>
          </a:p>
          <a:p>
            <a:pPr algn="l"/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Garfinkel, Jon A., and Kristine Watson Hankins, 2011, The role of risk management in mergers and merger waves,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Journal of Financial Economics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101, 515–532.a</a:t>
            </a:r>
          </a:p>
          <a:p>
            <a:pPr algn="l"/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Hoberg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Gerard, and Gordon Phillips, 2010a, Dynamic text-based industry classifications and endogenous product differentiation, Working paper, University of Maryland and University of Southern California.</a:t>
            </a:r>
          </a:p>
          <a:p>
            <a:pPr algn="l"/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Hoberg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Gerard, and Gordon Phillips, 2010b, Product market synergies and competition in mergers and acquisitions: A text-based analysis,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Review of Financial Studies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23, 3773–3811.</a:t>
            </a:r>
          </a:p>
          <a:p>
            <a:pPr algn="l"/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Ohanian, Nancy Kane, 1994, Vertical integration in the U.S. pulp and paper industry, 1900-1940,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Review of Economics and Statistics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76, 202–207.</a:t>
            </a:r>
          </a:p>
          <a:p>
            <a:pPr algn="l"/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Rhodes-</a:t>
            </a:r>
            <a:r>
              <a:rPr lang="en-US" sz="12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Kropf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, Matthew, David T. Robinson, and S. Viswanathan, 2005, Valuation waves and merger activity: The empirical evidence, </a:t>
            </a:r>
            <a:r>
              <a:rPr lang="en-US" sz="12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Journal of Financial Economics </a:t>
            </a:r>
            <a:r>
              <a:rPr lang="en-US" sz="12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77, 561–603.</a:t>
            </a:r>
          </a:p>
          <a:p>
            <a:pPr algn="l"/>
            <a:endParaRPr lang="en-US" sz="12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2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070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1180</Words>
  <Application>Microsoft Office PowerPoint</Application>
  <PresentationFormat>Widescreen</PresentationFormat>
  <Paragraphs>122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Georgia</vt:lpstr>
      <vt:lpstr>Wingdings</vt:lpstr>
      <vt:lpstr>Office Theme</vt:lpstr>
      <vt:lpstr>The Importance of Industry Links in Merger Waves</vt:lpstr>
      <vt:lpstr>Overview</vt:lpstr>
      <vt:lpstr>Data </vt:lpstr>
      <vt:lpstr>Figure 1</vt:lpstr>
      <vt:lpstr>Figure 1 Cont.</vt:lpstr>
      <vt:lpstr>Input-Output Summary Statistics</vt:lpstr>
      <vt:lpstr>Aggregate Merger Activity</vt:lpstr>
      <vt:lpstr>Merger Summary Statistics</vt:lpstr>
      <vt:lpstr>Degree Distribution of Merger and IO Networks</vt:lpstr>
      <vt:lpstr>Mean and Median Network Statistics</vt:lpstr>
      <vt:lpstr>The Most Central Industries in the IO and Merger Networks</vt:lpstr>
      <vt:lpstr>Correlations between Industry Characteristics across Networks</vt:lpstr>
      <vt:lpstr>Exponential Random Graph Model to Explain the M&amp;A Network</vt:lpstr>
      <vt:lpstr>T-statistics from yearly ERGM tests</vt:lpstr>
      <vt:lpstr>Diffusion of Merger Activity in Timber</vt:lpstr>
      <vt:lpstr>Closeness-Weighted M&amp;A Activity in Connected Industries</vt:lpstr>
      <vt:lpstr>The Dynamic of Impact of Mergers in Close Industries</vt:lpstr>
      <vt:lpstr>The Diffusion of Merger Activity across Close and Distant Industries</vt:lpstr>
      <vt:lpstr>Network Centrality and Industry Merger Waves</vt:lpstr>
      <vt:lpstr>Aggregate Merger Activity and Centrality</vt:lpstr>
      <vt:lpstr>Conclusion</vt:lpstr>
      <vt:lpstr>Questions ???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Industry Links in Merger Waves</dc:title>
  <dc:creator>Janko, Joseph Paul</dc:creator>
  <cp:lastModifiedBy>Janko, Joseph Paul</cp:lastModifiedBy>
  <cp:revision>59</cp:revision>
  <dcterms:created xsi:type="dcterms:W3CDTF">2020-11-09T14:35:10Z</dcterms:created>
  <dcterms:modified xsi:type="dcterms:W3CDTF">2020-11-17T19:13:16Z</dcterms:modified>
</cp:coreProperties>
</file>